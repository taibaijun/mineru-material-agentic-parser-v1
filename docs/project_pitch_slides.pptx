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MinerU 材料文献智能解析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Agentic AI + deterministic hard gate</a:t>
            </a:r>
          </a:p>
          <a:p>
            <a:pPr>
              <a:spcAft>
                <a:spcPts val="1000"/>
              </a:spcAft>
              <a:defRPr sz="2100"/>
            </a:pPr>
            <a:r>
              <a:t>从 MinerU combined.md 中抽取可追溯材料属性事实</a:t>
            </a:r>
          </a:p>
          <a:p>
            <a:pPr>
              <a:spcAft>
                <a:spcPts val="1000"/>
              </a:spcAft>
              <a:defRPr sz="2100"/>
            </a:pPr>
            <a:r>
              <a:t>最终高置信记录：688 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任务难点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材料实体别名、缩写和同名异义复杂</a:t>
            </a:r>
          </a:p>
          <a:p>
            <a:pPr>
              <a:spcAft>
                <a:spcPts val="1000"/>
              </a:spcAft>
              <a:defRPr sz="2100"/>
            </a:pPr>
            <a:r>
              <a:t>属性值分散在正文、表格、图注和专利实施例</a:t>
            </a:r>
          </a:p>
          <a:p>
            <a:pPr>
              <a:spcAft>
                <a:spcPts val="1000"/>
              </a:spcAft>
              <a:defRPr sz="2100"/>
            </a:pPr>
            <a:r>
              <a:t>少样本细分领域需要泛化，且不能只靠正则扫数值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V4 文档级 AI reader：宽召回材料-属性候选</a:t>
            </a:r>
          </a:p>
          <a:p>
            <a:pPr>
              <a:spcAft>
                <a:spcPts val="1000"/>
              </a:spcAft>
              <a:defRPr sz="2100"/>
            </a:pPr>
            <a:r>
              <a:t>失败重试与候选合并：doc41 自动补跑</a:t>
            </a:r>
          </a:p>
          <a:p>
            <a:pPr>
              <a:spcAft>
                <a:spcPts val="1000"/>
              </a:spcAft>
              <a:defRPr sz="2100"/>
            </a:pPr>
            <a:r>
              <a:t>V5 semantic binder：确认材料、属性、数值和证据绑定</a:t>
            </a:r>
          </a:p>
          <a:p>
            <a:pPr>
              <a:spcAft>
                <a:spcPts val="1000"/>
              </a:spcAft>
              <a:defRPr sz="2100"/>
            </a:pPr>
            <a:r>
              <a:t>deterministic gate：quote/schema/unit/duplicate 硬校验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质量结果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V5 输入：1421 条</a:t>
            </a:r>
          </a:p>
          <a:p>
            <a:pPr>
              <a:spcAft>
                <a:spcPts val="1000"/>
              </a:spcAft>
              <a:defRPr sz="2100"/>
            </a:pPr>
            <a:r>
              <a:t>最终保留：688 条；review/丢弃：733 条</a:t>
            </a:r>
          </a:p>
          <a:p>
            <a:pPr>
              <a:spcAft>
                <a:spcPts val="1000"/>
              </a:spcAft>
              <a:defRPr sz="2100"/>
            </a:pPr>
            <a:r>
              <a:t>hard gate 错误：0</a:t>
            </a:r>
          </a:p>
          <a:p>
            <a:pPr>
              <a:spcAft>
                <a:spcPts val="1000"/>
              </a:spcAft>
              <a:defRPr sz="2100"/>
            </a:pPr>
            <a:r>
              <a:t>quote 对齐：{'exact': 678, 'whitespace_compact': 10}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属性覆盖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process_temperature: 393</a:t>
            </a:r>
          </a:p>
          <a:p>
            <a:pPr>
              <a:spcAft>
                <a:spcPts val="1000"/>
              </a:spcAft>
              <a:defRPr sz="2100"/>
            </a:pPr>
            <a:r>
              <a:t>discharge_capacity: 117</a:t>
            </a:r>
          </a:p>
          <a:p>
            <a:pPr>
              <a:spcAft>
                <a:spcPts val="1000"/>
              </a:spcAft>
              <a:defRPr sz="2100"/>
            </a:pPr>
            <a:r>
              <a:t>ionic_conductivity: 77</a:t>
            </a:r>
          </a:p>
          <a:p>
            <a:pPr>
              <a:spcAft>
                <a:spcPts val="1000"/>
              </a:spcAft>
              <a:defRPr sz="2100"/>
            </a:pPr>
            <a:r>
              <a:t>adhesion_strength: 55</a:t>
            </a:r>
          </a:p>
          <a:p>
            <a:pPr>
              <a:spcAft>
                <a:spcPts val="1000"/>
              </a:spcAft>
              <a:defRPr sz="2100"/>
            </a:pPr>
            <a:r>
              <a:t>thermal_transition: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创新与价值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AI 做语义阅读，代码做确定性证据约束</a:t>
            </a:r>
          </a:p>
          <a:p>
            <a:pPr>
              <a:spcAft>
                <a:spcPts val="1000"/>
              </a:spcAft>
              <a:defRPr sz="2100"/>
            </a:pPr>
            <a:r>
              <a:t>用 measured entity / source property label 降低对象错绑</a:t>
            </a:r>
          </a:p>
          <a:p>
            <a:pPr>
              <a:spcAft>
                <a:spcPts val="1000"/>
              </a:spcAft>
              <a:defRPr sz="2100"/>
            </a:pPr>
            <a:r>
              <a:t>面向材料知识库、工艺检索、性能筛选和文献问答增强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